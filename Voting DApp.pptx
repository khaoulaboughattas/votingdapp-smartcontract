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nton" charset="1" panose="00000500000000000000"/>
      <p:regular r:id="rId23"/>
    </p:embeddedFont>
    <p:embeddedFont>
      <p:font typeface="Inter Medium" charset="1" panose="02000503000000020004"/>
      <p:regular r:id="rId24"/>
    </p:embeddedFont>
    <p:embeddedFont>
      <p:font typeface="Inter" charset="1" panose="020B0502030000000004"/>
      <p:regular r:id="rId25"/>
    </p:embeddedFont>
    <p:embeddedFont>
      <p:font typeface="Open Sans" charset="1" panose="020B0606030504020204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Nous avons utilisé Hardhat comme environnement de développement.</a:t>
            </a:r>
          </a:p>
          <a:p>
            <a:r>
              <a:rPr lang="en-US"/>
              <a:t>Il fournit une blockchain locale avec des comptes préchargés, un minage instantané, et un RPC local.</a:t>
            </a:r>
          </a:p>
          <a:p>
            <a:r>
              <a:rPr lang="en-US"/>
              <a:t>Cet environnement nous permet de déployer et tester nos contrats rapidement, sans coûts ni latence.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MetaMask gère la clé privée de l’utilisateur.</a:t>
            </a:r>
          </a:p>
          <a:p>
            <a:r>
              <a:rPr lang="en-US"/>
              <a:t>Les votes sont signés cryptographiquement avec ECDSA, et le contrat vérifie automatiquement l’identité via l’adresse Ethereum.</a:t>
            </a:r>
          </a:p>
          <a:p>
            <a:r>
              <a:rPr lang="en-US"/>
              <a:t>La DApp ne voit jamais la clé privée : elle ne fait qu’utiliser la signature pour valider l’action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Voici le flux complet d’un vote.</a:t>
            </a:r>
          </a:p>
          <a:p>
            <a:r>
              <a:rPr lang="en-US"/>
              <a:t>L’utilisateur choisit un candidat, MetaMask ouvre une fenêtre de signature, la transaction est envoyée à la blockchain Hardhat, puis minée instantanément.</a:t>
            </a:r>
          </a:p>
          <a:p>
            <a:r>
              <a:rPr lang="en-US"/>
              <a:t>Ensuite, le frontend met automatiquement l’interface à jour en relisant les données depuis le smart contract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 prototype fonctionne en local, mais il peut être étendu sur un testnet public comme Sepolia.</a:t>
            </a:r>
          </a:p>
          <a:p>
            <a:r>
              <a:rPr lang="en-US"/>
              <a:t>Nous pourrions ajouter des events, une interface admin, un système d’authentification, ou même des preuves à divulgation nulle pour rendre les votes anonymes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jpeg" Type="http://schemas.openxmlformats.org/officeDocument/2006/relationships/image"/><Relationship Id="rId5" Target="../media/VAG7C_tog5Y.mp4" Type="http://schemas.openxmlformats.org/officeDocument/2006/relationships/video"/><Relationship Id="rId6" Target="../media/VAG7C_tog5Y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jpeg" Type="http://schemas.openxmlformats.org/officeDocument/2006/relationships/image"/><Relationship Id="rId5" Target="../media/VAG7GTRu0ng.mp4" Type="http://schemas.openxmlformats.org/officeDocument/2006/relationships/video"/><Relationship Id="rId6" Target="../media/VAG7GTRu0ng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987593" y="-1468947"/>
            <a:ext cx="2312815" cy="9883236"/>
            <a:chOff x="0" y="0"/>
            <a:chExt cx="632735" cy="27038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2735" cy="2703836"/>
            </a:xfrm>
            <a:custGeom>
              <a:avLst/>
              <a:gdLst/>
              <a:ahLst/>
              <a:cxnLst/>
              <a:rect r="r" b="b" t="t" l="l"/>
              <a:pathLst>
                <a:path h="2703836" w="632735">
                  <a:moveTo>
                    <a:pt x="0" y="0"/>
                  </a:moveTo>
                  <a:lnTo>
                    <a:pt x="632735" y="0"/>
                  </a:lnTo>
                  <a:lnTo>
                    <a:pt x="632735" y="2703836"/>
                  </a:lnTo>
                  <a:lnTo>
                    <a:pt x="0" y="27038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72C3C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2735" cy="2741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8612907" y="623704"/>
            <a:ext cx="1057672" cy="8487143"/>
            <a:chOff x="0" y="0"/>
            <a:chExt cx="289356" cy="2321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356" cy="2321896"/>
            </a:xfrm>
            <a:custGeom>
              <a:avLst/>
              <a:gdLst/>
              <a:ahLst/>
              <a:cxnLst/>
              <a:rect r="r" b="b" t="t" l="l"/>
              <a:pathLst>
                <a:path h="2321896" w="289356">
                  <a:moveTo>
                    <a:pt x="0" y="0"/>
                  </a:moveTo>
                  <a:lnTo>
                    <a:pt x="289356" y="0"/>
                  </a:lnTo>
                  <a:lnTo>
                    <a:pt x="289356" y="2321896"/>
                  </a:lnTo>
                  <a:lnTo>
                    <a:pt x="0" y="2321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9356" cy="23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85396" y="3713243"/>
            <a:ext cx="8112694" cy="19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16"/>
              </a:lnSpc>
            </a:pPr>
            <a:r>
              <a:rPr lang="en-US" sz="13407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V</a:t>
            </a:r>
            <a:r>
              <a:rPr lang="en-US" sz="13407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OTING DAPP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562299" y="514350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-725645" y="102870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4114800"/>
                </a:moveTo>
                <a:lnTo>
                  <a:pt x="1451402" y="4114800"/>
                </a:lnTo>
                <a:lnTo>
                  <a:pt x="145140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67330" y="7059833"/>
            <a:ext cx="7148827" cy="47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7"/>
              </a:lnSpc>
              <a:spcBef>
                <a:spcPct val="0"/>
              </a:spcBef>
            </a:pPr>
            <a:r>
              <a:rPr lang="en-US" b="true" sz="2762">
                <a:solidFill>
                  <a:srgbClr val="060644"/>
                </a:solidFill>
                <a:latin typeface="Inter Medium"/>
                <a:ea typeface="Inter Medium"/>
                <a:cs typeface="Inter Medium"/>
                <a:sym typeface="Inter Medium"/>
              </a:rPr>
              <a:t>Realisée par : Khaoula boughattas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400000">
            <a:off x="16291332" y="1786445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3" y="0"/>
                </a:lnTo>
                <a:lnTo>
                  <a:pt x="1725713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270955" y="8290332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3" y="0"/>
                </a:lnTo>
                <a:lnTo>
                  <a:pt x="1725713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3114" y="5592538"/>
            <a:ext cx="16679185" cy="47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7"/>
              </a:lnSpc>
              <a:spcBef>
                <a:spcPct val="0"/>
              </a:spcBef>
            </a:pPr>
            <a:r>
              <a:rPr lang="en-US" b="true" sz="2762">
                <a:solidFill>
                  <a:srgbClr val="060644"/>
                </a:solidFill>
                <a:latin typeface="Inter Medium"/>
                <a:ea typeface="Inter Medium"/>
                <a:cs typeface="Inter Medium"/>
                <a:sym typeface="Inter Medium"/>
              </a:rPr>
              <a:t>Démonstration d’une application de vote décentralisée sur Ethereum (local blockchain)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92736" y="-2625840"/>
            <a:ext cx="1575164" cy="8309123"/>
            <a:chOff x="0" y="0"/>
            <a:chExt cx="15408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83" cy="812800"/>
            </a:xfrm>
            <a:custGeom>
              <a:avLst/>
              <a:gdLst/>
              <a:ahLst/>
              <a:cxnLst/>
              <a:rect r="r" b="b" t="t" l="l"/>
              <a:pathLst>
                <a:path h="812800" w="154083">
                  <a:moveTo>
                    <a:pt x="0" y="0"/>
                  </a:moveTo>
                  <a:lnTo>
                    <a:pt x="154083" y="0"/>
                  </a:lnTo>
                  <a:lnTo>
                    <a:pt x="15408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08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444545" y="759005"/>
            <a:ext cx="6158653" cy="127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4"/>
              </a:lnSpc>
              <a:spcBef>
                <a:spcPct val="0"/>
              </a:spcBef>
            </a:pPr>
            <a:r>
              <a:rPr lang="en-US" b="true" sz="7538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PLAN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9351" y="2249628"/>
            <a:ext cx="13420238" cy="778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Objectif du projet 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Fonctionnement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Stack Technique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Smart Contract: Voting.sol 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Diagramme du contrat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Environnement de Développement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Déploiement Hardhat 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MetaMask &amp; Wallet Security</a:t>
            </a:r>
          </a:p>
          <a:p>
            <a:pPr algn="just" marL="734053" indent="-367026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Résultats &amp; Démonstration </a:t>
            </a:r>
          </a:p>
          <a:p>
            <a:pPr algn="just" marL="734053" indent="-367026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Limites &amp; Améliorations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562299" y="514350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725645" y="102870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4114800"/>
                </a:moveTo>
                <a:lnTo>
                  <a:pt x="1451402" y="4114800"/>
                </a:lnTo>
                <a:lnTo>
                  <a:pt x="145140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291332" y="1786445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3" y="0"/>
                </a:lnTo>
                <a:lnTo>
                  <a:pt x="1725713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137100" y="9153188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4" y="0"/>
                </a:lnTo>
                <a:lnTo>
                  <a:pt x="1725714" y="210224"/>
                </a:lnTo>
                <a:lnTo>
                  <a:pt x="0" y="210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5430"/>
            <a:ext cx="7170223" cy="10302430"/>
            <a:chOff x="0" y="0"/>
            <a:chExt cx="1110855" cy="159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0855" cy="1596116"/>
            </a:xfrm>
            <a:custGeom>
              <a:avLst/>
              <a:gdLst/>
              <a:ahLst/>
              <a:cxnLst/>
              <a:rect r="r" b="b" t="t" l="l"/>
              <a:pathLst>
                <a:path h="1596116" w="1110855">
                  <a:moveTo>
                    <a:pt x="0" y="0"/>
                  </a:moveTo>
                  <a:lnTo>
                    <a:pt x="1110855" y="0"/>
                  </a:lnTo>
                  <a:lnTo>
                    <a:pt x="1110855" y="1596116"/>
                  </a:lnTo>
                  <a:lnTo>
                    <a:pt x="0" y="1596116"/>
                  </a:lnTo>
                  <a:close/>
                </a:path>
              </a:pathLst>
            </a:custGeom>
            <a:blipFill>
              <a:blip r:embed="rId2"/>
              <a:stretch>
                <a:fillRect l="-57848" t="0" r="-5784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88050" y="8387050"/>
            <a:ext cx="1742500" cy="1742500"/>
            <a:chOff x="0" y="0"/>
            <a:chExt cx="458930" cy="45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930" cy="458930"/>
            </a:xfrm>
            <a:custGeom>
              <a:avLst/>
              <a:gdLst/>
              <a:ahLst/>
              <a:cxnLst/>
              <a:rect r="r" b="b" t="t" l="l"/>
              <a:pathLst>
                <a:path h="458930" w="458930">
                  <a:moveTo>
                    <a:pt x="0" y="0"/>
                  </a:moveTo>
                  <a:lnTo>
                    <a:pt x="458930" y="0"/>
                  </a:lnTo>
                  <a:lnTo>
                    <a:pt x="458930" y="458930"/>
                  </a:lnTo>
                  <a:lnTo>
                    <a:pt x="0" y="45893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8930" cy="49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99142" y="-15430"/>
            <a:ext cx="542162" cy="10302430"/>
            <a:chOff x="0" y="0"/>
            <a:chExt cx="142792" cy="27133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792" cy="2713397"/>
            </a:xfrm>
            <a:custGeom>
              <a:avLst/>
              <a:gdLst/>
              <a:ahLst/>
              <a:cxnLst/>
              <a:rect r="r" b="b" t="t" l="l"/>
              <a:pathLst>
                <a:path h="2713397" w="142792">
                  <a:moveTo>
                    <a:pt x="0" y="0"/>
                  </a:moveTo>
                  <a:lnTo>
                    <a:pt x="142792" y="0"/>
                  </a:lnTo>
                  <a:lnTo>
                    <a:pt x="142792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2792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562299" y="-399354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64279" y="9048077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4" y="0"/>
                </a:lnTo>
                <a:lnTo>
                  <a:pt x="1725714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1028700"/>
            <a:ext cx="1028700" cy="3086100"/>
            <a:chOff x="0" y="0"/>
            <a:chExt cx="27093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064279" y="1076325"/>
            <a:ext cx="8754383" cy="3083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1. OBJECTIF DU PROJET :</a:t>
            </a:r>
          </a:p>
          <a:p>
            <a:pPr algn="l">
              <a:lnSpc>
                <a:spcPts val="8064"/>
              </a:lnSpc>
            </a:pPr>
          </a:p>
          <a:p>
            <a:pPr algn="l">
              <a:lnSpc>
                <a:spcPts val="806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064279" y="3173700"/>
            <a:ext cx="8044205" cy="455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Créer une application de vote décentralisée (DApp) permettant de voter pour des candidats.</a:t>
            </a:r>
          </a:p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Permettre à chaque utilisateur de voter une seule fois.</a:t>
            </a:r>
          </a:p>
          <a:p>
            <a:pPr algn="just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Afficher en temps réel les résultats et pourcentages des votes.</a:t>
            </a:r>
          </a:p>
          <a:p>
            <a:pPr algn="just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Travailler en local avec un réseau Ethereum simulé pour les tests.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86148" y="141582"/>
            <a:ext cx="1575637" cy="5914137"/>
            <a:chOff x="0" y="0"/>
            <a:chExt cx="414983" cy="15576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983" cy="1557633"/>
            </a:xfrm>
            <a:custGeom>
              <a:avLst/>
              <a:gdLst/>
              <a:ahLst/>
              <a:cxnLst/>
              <a:rect r="r" b="b" t="t" l="l"/>
              <a:pathLst>
                <a:path h="1557633" w="414983">
                  <a:moveTo>
                    <a:pt x="0" y="0"/>
                  </a:moveTo>
                  <a:lnTo>
                    <a:pt x="414983" y="0"/>
                  </a:lnTo>
                  <a:lnTo>
                    <a:pt x="414983" y="1557633"/>
                  </a:lnTo>
                  <a:lnTo>
                    <a:pt x="0" y="1557633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4983" cy="1595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5756831" cy="9258300"/>
            <a:chOff x="0" y="0"/>
            <a:chExt cx="891884" cy="14343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1884" cy="1434353"/>
            </a:xfrm>
            <a:custGeom>
              <a:avLst/>
              <a:gdLst/>
              <a:ahLst/>
              <a:cxnLst/>
              <a:rect r="r" b="b" t="t" l="l"/>
              <a:pathLst>
                <a:path h="1434353" w="891884">
                  <a:moveTo>
                    <a:pt x="0" y="0"/>
                  </a:moveTo>
                  <a:lnTo>
                    <a:pt x="891884" y="0"/>
                  </a:lnTo>
                  <a:lnTo>
                    <a:pt x="891884" y="1434353"/>
                  </a:lnTo>
                  <a:lnTo>
                    <a:pt x="0" y="1434353"/>
                  </a:lnTo>
                  <a:close/>
                </a:path>
              </a:pathLst>
            </a:custGeom>
            <a:blipFill>
              <a:blip r:embed="rId2"/>
              <a:stretch>
                <a:fillRect l="-3607" t="0" r="-360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372483" y="1035631"/>
            <a:ext cx="7416306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2. FONCTIONNEMENT: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2483" y="2310765"/>
            <a:ext cx="10158029" cy="6646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L’utilisateur connecte son MetaMask à l’application.</a:t>
            </a:r>
          </a:p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L’application se connecte au contrat intelligent déployé sur le réseau local Hardhat.</a:t>
            </a:r>
          </a:p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 contrat contient :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La liste des candidats.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 nombre de votes pour chaque candidat.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Les adresses des utilisateurs ayant déjà voté.</a:t>
            </a:r>
          </a:p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L’utilisateur choisit un candidat et vote.</a:t>
            </a:r>
          </a:p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Les résultats se mettent à jour automatiquement dans l’interface :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Nombre total de votes.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Pourcentage des votes pour chaque candidat.</a:t>
            </a:r>
          </a:p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 vote est limité à une seule fois par utilisateur.</a:t>
            </a:r>
          </a:p>
          <a:p>
            <a:pPr algn="just">
              <a:lnSpc>
                <a:spcPts val="377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226793" y="8387050"/>
            <a:ext cx="1742500" cy="1742500"/>
            <a:chOff x="0" y="0"/>
            <a:chExt cx="458930" cy="4589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8930" cy="458930"/>
            </a:xfrm>
            <a:custGeom>
              <a:avLst/>
              <a:gdLst/>
              <a:ahLst/>
              <a:cxnLst/>
              <a:rect r="r" b="b" t="t" l="l"/>
              <a:pathLst>
                <a:path h="458930" w="458930">
                  <a:moveTo>
                    <a:pt x="0" y="0"/>
                  </a:moveTo>
                  <a:lnTo>
                    <a:pt x="458930" y="0"/>
                  </a:lnTo>
                  <a:lnTo>
                    <a:pt x="458930" y="458930"/>
                  </a:lnTo>
                  <a:lnTo>
                    <a:pt x="0" y="45893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8930" cy="49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6204490" y="1975221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3" y="0"/>
                </a:lnTo>
                <a:lnTo>
                  <a:pt x="1725713" y="210224"/>
                </a:lnTo>
                <a:lnTo>
                  <a:pt x="0" y="210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562299" y="-248603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0" y="1028700"/>
            <a:ext cx="1028700" cy="3086100"/>
            <a:chOff x="0" y="0"/>
            <a:chExt cx="270933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48810" y="0"/>
            <a:ext cx="2278380" cy="10302430"/>
            <a:chOff x="0" y="0"/>
            <a:chExt cx="600067" cy="2713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067" cy="2713397"/>
            </a:xfrm>
            <a:custGeom>
              <a:avLst/>
              <a:gdLst/>
              <a:ahLst/>
              <a:cxnLst/>
              <a:rect r="r" b="b" t="t" l="l"/>
              <a:pathLst>
                <a:path h="2713397" w="600067">
                  <a:moveTo>
                    <a:pt x="0" y="0"/>
                  </a:moveTo>
                  <a:lnTo>
                    <a:pt x="600067" y="0"/>
                  </a:lnTo>
                  <a:lnTo>
                    <a:pt x="600067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0067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94177" y="654174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1028700"/>
            <a:ext cx="1028700" cy="3086100"/>
            <a:chOff x="0" y="0"/>
            <a:chExt cx="27093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20182" y="2524125"/>
            <a:ext cx="14722196" cy="617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React.js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CSS inline (simple design)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Interaction avec blockchain via ethers.js</a:t>
            </a:r>
          </a:p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Backend / Smart Contr</a:t>
            </a: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act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Solidity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Déployé sur Hardhat local network</a:t>
            </a:r>
          </a:p>
          <a:p>
            <a:pPr algn="just" marL="582925" indent="-291463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Outils de développement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Node.js / NPM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Hardhat (compilation &amp; déploiement)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MetaMask (wallet)</a:t>
            </a:r>
          </a:p>
          <a:p>
            <a:pPr algn="just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VS Code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948535" y="3930199"/>
            <a:ext cx="5992234" cy="5223082"/>
          </a:xfrm>
          <a:custGeom>
            <a:avLst/>
            <a:gdLst/>
            <a:ahLst/>
            <a:cxnLst/>
            <a:rect r="r" b="b" t="t" l="l"/>
            <a:pathLst>
              <a:path h="5223082" w="5992234">
                <a:moveTo>
                  <a:pt x="0" y="0"/>
                </a:moveTo>
                <a:lnTo>
                  <a:pt x="5992234" y="0"/>
                </a:lnTo>
                <a:lnTo>
                  <a:pt x="5992234" y="5223082"/>
                </a:lnTo>
                <a:lnTo>
                  <a:pt x="0" y="522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2087" y="851108"/>
            <a:ext cx="13034168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3. STACK TECHNIQUE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44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9620" y="-15430"/>
            <a:ext cx="2278380" cy="10302430"/>
            <a:chOff x="0" y="0"/>
            <a:chExt cx="600067" cy="2713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067" cy="2713397"/>
            </a:xfrm>
            <a:custGeom>
              <a:avLst/>
              <a:gdLst/>
              <a:ahLst/>
              <a:cxnLst/>
              <a:rect r="r" b="b" t="t" l="l"/>
              <a:pathLst>
                <a:path h="2713397" w="600067">
                  <a:moveTo>
                    <a:pt x="0" y="0"/>
                  </a:moveTo>
                  <a:lnTo>
                    <a:pt x="600067" y="0"/>
                  </a:lnTo>
                  <a:lnTo>
                    <a:pt x="600067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0067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53869"/>
            <a:ext cx="14980920" cy="4612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Fonctions principales :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constructor(string[] memory candidateNames) → initialise les candidats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vote(uint candidateIndex) → permet à un utilisateur de voter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getCandidate(uint index) → retourne le nom et le nombre de votes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candidatesCount() → retourne le nombre de candidats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voters(address) → indique si un utilisateur a déjà voté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isVotingActive() → état du vote (actif / terminé)</a:t>
            </a:r>
          </a:p>
          <a:p>
            <a:pPr algn="just">
              <a:lnSpc>
                <a:spcPts val="4059"/>
              </a:lnSpc>
            </a:pP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0" y="6541740"/>
            <a:ext cx="9696842" cy="3479404"/>
            <a:chOff x="0" y="0"/>
            <a:chExt cx="1502295" cy="5390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2295" cy="539051"/>
            </a:xfrm>
            <a:custGeom>
              <a:avLst/>
              <a:gdLst/>
              <a:ahLst/>
              <a:cxnLst/>
              <a:rect r="r" b="b" t="t" l="l"/>
              <a:pathLst>
                <a:path h="539051" w="1502295">
                  <a:moveTo>
                    <a:pt x="0" y="0"/>
                  </a:moveTo>
                  <a:lnTo>
                    <a:pt x="1502295" y="0"/>
                  </a:lnTo>
                  <a:lnTo>
                    <a:pt x="1502295" y="539051"/>
                  </a:lnTo>
                  <a:lnTo>
                    <a:pt x="0" y="539051"/>
                  </a:lnTo>
                  <a:close/>
                </a:path>
              </a:pathLst>
            </a:custGeom>
            <a:blipFill>
              <a:blip r:embed="rId2"/>
              <a:stretch>
                <a:fillRect l="0" t="-15059" r="0" b="-15059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794177" y="654174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12837" y="3465165"/>
            <a:ext cx="1028700" cy="3086100"/>
            <a:chOff x="0" y="0"/>
            <a:chExt cx="270933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4350" y="628848"/>
            <a:ext cx="13376524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4. SMART CONTRACT: VOTING.SOL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15286" y="6509359"/>
            <a:ext cx="5867574" cy="22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571">
                <a:solidFill>
                  <a:srgbClr val="060644"/>
                </a:solidFill>
                <a:latin typeface="Canva Sans"/>
                <a:ea typeface="Canva Sans"/>
                <a:cs typeface="Canva Sans"/>
                <a:sym typeface="Canva Sans"/>
              </a:rPr>
              <a:t>Rema</a:t>
            </a:r>
            <a:r>
              <a:rPr lang="en-US" sz="2571">
                <a:solidFill>
                  <a:srgbClr val="060644"/>
                </a:solidFill>
                <a:latin typeface="Canva Sans"/>
                <a:ea typeface="Canva Sans"/>
                <a:cs typeface="Canva Sans"/>
                <a:sym typeface="Canva Sans"/>
              </a:rPr>
              <a:t>rques :</a:t>
            </a:r>
          </a:p>
          <a:p>
            <a:pPr algn="l" marL="555260" indent="-27763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60644"/>
                </a:solidFill>
                <a:latin typeface="Canva Sans"/>
                <a:ea typeface="Canva Sans"/>
                <a:cs typeface="Canva Sans"/>
                <a:sym typeface="Canva Sans"/>
              </a:rPr>
              <a:t>Protection contre double vote</a:t>
            </a:r>
          </a:p>
          <a:p>
            <a:pPr algn="l" marL="555260" indent="-27763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60644"/>
                </a:solidFill>
                <a:latin typeface="Canva Sans"/>
                <a:ea typeface="Canva Sans"/>
                <a:cs typeface="Canva Sans"/>
                <a:sym typeface="Canva Sans"/>
              </a:rPr>
              <a:t>Comptage transparent sur la blockchain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44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9620" y="-15430"/>
            <a:ext cx="2278380" cy="10302430"/>
            <a:chOff x="0" y="0"/>
            <a:chExt cx="600067" cy="2713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067" cy="2713397"/>
            </a:xfrm>
            <a:custGeom>
              <a:avLst/>
              <a:gdLst/>
              <a:ahLst/>
              <a:cxnLst/>
              <a:rect r="r" b="b" t="t" l="l"/>
              <a:pathLst>
                <a:path h="2713397" w="600067">
                  <a:moveTo>
                    <a:pt x="0" y="0"/>
                  </a:moveTo>
                  <a:lnTo>
                    <a:pt x="600067" y="0"/>
                  </a:lnTo>
                  <a:lnTo>
                    <a:pt x="600067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0067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94177" y="654174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12837" y="3465165"/>
            <a:ext cx="1028700" cy="3086100"/>
            <a:chOff x="0" y="0"/>
            <a:chExt cx="27093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732166" y="1895813"/>
            <a:ext cx="10823668" cy="7928336"/>
          </a:xfrm>
          <a:custGeom>
            <a:avLst/>
            <a:gdLst/>
            <a:ahLst/>
            <a:cxnLst/>
            <a:rect r="r" b="b" t="t" l="l"/>
            <a:pathLst>
              <a:path h="7928336" w="10823668">
                <a:moveTo>
                  <a:pt x="0" y="0"/>
                </a:moveTo>
                <a:lnTo>
                  <a:pt x="10823668" y="0"/>
                </a:lnTo>
                <a:lnTo>
                  <a:pt x="10823668" y="7928336"/>
                </a:lnTo>
                <a:lnTo>
                  <a:pt x="0" y="7928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4350" y="628848"/>
            <a:ext cx="13376524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5. DIAGRAMME DU CONTRAT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44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2146" y="530161"/>
            <a:ext cx="14794647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6. ENVIRONNEMENT DE DÉVELOPPEMENT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55710" y="2166973"/>
            <a:ext cx="11874387" cy="666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18"/>
              </a:lnSpc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Hardhat Local Blockchain</a:t>
            </a:r>
          </a:p>
          <a:p>
            <a:pPr algn="just" marL="681419" indent="-340710" lvl="1">
              <a:lnSpc>
                <a:spcPts val="4418"/>
              </a:lnSpc>
              <a:buFont typeface="Arial"/>
              <a:buChar char="•"/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20 comptes générés automatiquement</a:t>
            </a:r>
          </a:p>
          <a:p>
            <a:pPr algn="just" marL="681419" indent="-340710" lvl="1">
              <a:lnSpc>
                <a:spcPts val="4418"/>
              </a:lnSpc>
              <a:buFont typeface="Arial"/>
              <a:buChar char="•"/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Chaque compte : 10,000 ETH (fictif)</a:t>
            </a:r>
          </a:p>
          <a:p>
            <a:pPr algn="just" marL="681419" indent="-340710" lvl="1">
              <a:lnSpc>
                <a:spcPts val="4418"/>
              </a:lnSpc>
              <a:buFont typeface="Arial"/>
              <a:buChar char="•"/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Blocs minés instantanément</a:t>
            </a:r>
          </a:p>
          <a:p>
            <a:pPr algn="just" marL="681419" indent="-340710" lvl="1">
              <a:lnSpc>
                <a:spcPts val="4418"/>
              </a:lnSpc>
              <a:buFont typeface="Arial"/>
              <a:buChar char="•"/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RPC local : http://127.0.0.1:8545/</a:t>
            </a:r>
          </a:p>
          <a:p>
            <a:pPr algn="just">
              <a:lnSpc>
                <a:spcPts val="4418"/>
              </a:lnSpc>
            </a:pPr>
          </a:p>
          <a:p>
            <a:pPr algn="just">
              <a:lnSpc>
                <a:spcPts val="4418"/>
              </a:lnSpc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Pourquoi Hardhat ?</a:t>
            </a:r>
          </a:p>
          <a:p>
            <a:pPr algn="just">
              <a:lnSpc>
                <a:spcPts val="4418"/>
              </a:lnSpc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✔ Déploiement instantané</a:t>
            </a:r>
          </a:p>
          <a:p>
            <a:pPr algn="just">
              <a:lnSpc>
                <a:spcPts val="4418"/>
              </a:lnSpc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✔ Tests unitaires intégrés</a:t>
            </a:r>
          </a:p>
          <a:p>
            <a:pPr algn="just">
              <a:lnSpc>
                <a:spcPts val="4418"/>
              </a:lnSpc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✔ Console Ethereum → npx hardhat console</a:t>
            </a:r>
          </a:p>
          <a:p>
            <a:pPr algn="just">
              <a:lnSpc>
                <a:spcPts val="4418"/>
              </a:lnSpc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✔ Simulation gas, revert, logs, events</a:t>
            </a:r>
          </a:p>
          <a:p>
            <a:pPr algn="just">
              <a:lnSpc>
                <a:spcPts val="4418"/>
              </a:lnSpc>
            </a:pPr>
            <a:r>
              <a:rPr lang="en-US" sz="3156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✔ Idéal pour une DApp off-chain simulation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226793" y="8387050"/>
            <a:ext cx="1742500" cy="1742500"/>
            <a:chOff x="0" y="0"/>
            <a:chExt cx="458930" cy="45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930" cy="458930"/>
            </a:xfrm>
            <a:custGeom>
              <a:avLst/>
              <a:gdLst/>
              <a:ahLst/>
              <a:cxnLst/>
              <a:rect r="r" b="b" t="t" l="l"/>
              <a:pathLst>
                <a:path h="458930" w="458930">
                  <a:moveTo>
                    <a:pt x="0" y="0"/>
                  </a:moveTo>
                  <a:lnTo>
                    <a:pt x="458930" y="0"/>
                  </a:lnTo>
                  <a:lnTo>
                    <a:pt x="458930" y="458930"/>
                  </a:lnTo>
                  <a:lnTo>
                    <a:pt x="0" y="45893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8930" cy="49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15699462" y="3329495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4" y="0"/>
                </a:lnTo>
                <a:lnTo>
                  <a:pt x="1725714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62299" y="-248603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0"/>
            <a:ext cx="1028700" cy="10535387"/>
            <a:chOff x="0" y="0"/>
            <a:chExt cx="270933" cy="2774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74752"/>
            </a:xfrm>
            <a:custGeom>
              <a:avLst/>
              <a:gdLst/>
              <a:ahLst/>
              <a:cxnLst/>
              <a:rect r="r" b="b" t="t" l="l"/>
              <a:pathLst>
                <a:path h="277475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74752"/>
                  </a:lnTo>
                  <a:lnTo>
                    <a:pt x="0" y="2774752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2812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6800" y="7515800"/>
            <a:ext cx="1742500" cy="1742500"/>
            <a:chOff x="0" y="0"/>
            <a:chExt cx="458930" cy="458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930" cy="458930"/>
            </a:xfrm>
            <a:custGeom>
              <a:avLst/>
              <a:gdLst/>
              <a:ahLst/>
              <a:cxnLst/>
              <a:rect r="r" b="b" t="t" l="l"/>
              <a:pathLst>
                <a:path h="458930" w="458930">
                  <a:moveTo>
                    <a:pt x="0" y="0"/>
                  </a:moveTo>
                  <a:lnTo>
                    <a:pt x="458930" y="0"/>
                  </a:lnTo>
                  <a:lnTo>
                    <a:pt x="458930" y="458930"/>
                  </a:lnTo>
                  <a:lnTo>
                    <a:pt x="0" y="45893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930" cy="49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16919" y="0"/>
            <a:ext cx="542162" cy="10302430"/>
            <a:chOff x="0" y="0"/>
            <a:chExt cx="142792" cy="2713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792" cy="2713397"/>
            </a:xfrm>
            <a:custGeom>
              <a:avLst/>
              <a:gdLst/>
              <a:ahLst/>
              <a:cxnLst/>
              <a:rect r="r" b="b" t="t" l="l"/>
              <a:pathLst>
                <a:path h="2713397" w="142792">
                  <a:moveTo>
                    <a:pt x="0" y="0"/>
                  </a:moveTo>
                  <a:lnTo>
                    <a:pt x="142792" y="0"/>
                  </a:lnTo>
                  <a:lnTo>
                    <a:pt x="142792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792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562299" y="-399354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64279" y="9048077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4" y="0"/>
                </a:lnTo>
                <a:lnTo>
                  <a:pt x="1725714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1028700"/>
            <a:ext cx="1028700" cy="3086100"/>
            <a:chOff x="0" y="0"/>
            <a:chExt cx="27093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064060" y="1836115"/>
            <a:ext cx="15195240" cy="7236733"/>
          </a:xfrm>
          <a:custGeom>
            <a:avLst/>
            <a:gdLst/>
            <a:ahLst/>
            <a:cxnLst/>
            <a:rect r="r" b="b" t="t" l="l"/>
            <a:pathLst>
              <a:path h="7236733" w="15195240">
                <a:moveTo>
                  <a:pt x="0" y="0"/>
                </a:moveTo>
                <a:lnTo>
                  <a:pt x="15195240" y="0"/>
                </a:lnTo>
                <a:lnTo>
                  <a:pt x="15195240" y="7236733"/>
                </a:lnTo>
                <a:lnTo>
                  <a:pt x="0" y="7236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613344"/>
            <a:ext cx="14794647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6. ENVIRONNEMENT DE DÉVELOPPEMENT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44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6800" y="7515800"/>
            <a:ext cx="1742500" cy="1742500"/>
            <a:chOff x="0" y="0"/>
            <a:chExt cx="458930" cy="458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930" cy="458930"/>
            </a:xfrm>
            <a:custGeom>
              <a:avLst/>
              <a:gdLst/>
              <a:ahLst/>
              <a:cxnLst/>
              <a:rect r="r" b="b" t="t" l="l"/>
              <a:pathLst>
                <a:path h="458930" w="458930">
                  <a:moveTo>
                    <a:pt x="0" y="0"/>
                  </a:moveTo>
                  <a:lnTo>
                    <a:pt x="458930" y="0"/>
                  </a:lnTo>
                  <a:lnTo>
                    <a:pt x="458930" y="458930"/>
                  </a:lnTo>
                  <a:lnTo>
                    <a:pt x="0" y="45893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930" cy="49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562299" y="-248603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1028700"/>
            <a:ext cx="1028700" cy="3086100"/>
            <a:chOff x="0" y="0"/>
            <a:chExt cx="27093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2015" y="2319338"/>
            <a:ext cx="12675862" cy="3470017"/>
          </a:xfrm>
          <a:custGeom>
            <a:avLst/>
            <a:gdLst/>
            <a:ahLst/>
            <a:cxnLst/>
            <a:rect r="r" b="b" t="t" l="l"/>
            <a:pathLst>
              <a:path h="3470017" w="12675862">
                <a:moveTo>
                  <a:pt x="0" y="0"/>
                </a:moveTo>
                <a:lnTo>
                  <a:pt x="12675862" y="0"/>
                </a:lnTo>
                <a:lnTo>
                  <a:pt x="12675862" y="3470017"/>
                </a:lnTo>
                <a:lnTo>
                  <a:pt x="0" y="3470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2015" y="6503314"/>
            <a:ext cx="15026035" cy="1671646"/>
          </a:xfrm>
          <a:custGeom>
            <a:avLst/>
            <a:gdLst/>
            <a:ahLst/>
            <a:cxnLst/>
            <a:rect r="r" b="b" t="t" l="l"/>
            <a:pathLst>
              <a:path h="1671646" w="15026035">
                <a:moveTo>
                  <a:pt x="0" y="0"/>
                </a:moveTo>
                <a:lnTo>
                  <a:pt x="15026035" y="0"/>
                </a:lnTo>
                <a:lnTo>
                  <a:pt x="15026035" y="1671646"/>
                </a:lnTo>
                <a:lnTo>
                  <a:pt x="0" y="1671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50950" y="764095"/>
            <a:ext cx="12379383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7. DÉPLOIEMENT HARDHAT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6800" y="7515800"/>
            <a:ext cx="1742500" cy="1742500"/>
            <a:chOff x="0" y="0"/>
            <a:chExt cx="458930" cy="458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930" cy="458930"/>
            </a:xfrm>
            <a:custGeom>
              <a:avLst/>
              <a:gdLst/>
              <a:ahLst/>
              <a:cxnLst/>
              <a:rect r="r" b="b" t="t" l="l"/>
              <a:pathLst>
                <a:path h="458930" w="458930">
                  <a:moveTo>
                    <a:pt x="0" y="0"/>
                  </a:moveTo>
                  <a:lnTo>
                    <a:pt x="458930" y="0"/>
                  </a:lnTo>
                  <a:lnTo>
                    <a:pt x="458930" y="458930"/>
                  </a:lnTo>
                  <a:lnTo>
                    <a:pt x="0" y="45893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930" cy="49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08264" y="2352386"/>
            <a:ext cx="16979736" cy="6646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Rôle de MetaMask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Génère les clés privées (ECDSA - secp256k1)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Signatures cryptographiques via EIP-712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Pas de mot de passe stocké côté DApp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Transactions votantes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Signées avec :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nonce (prévention replay attack)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gas limit / gas price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chaine ID (1337 pour Hardhat)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Sécurité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Les votes ne peuvent pas être modifiés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Les clés privées ne sortent jamais du wallet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Le backend ne peut pas falsifier un vote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562299" y="-248603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1028700"/>
            <a:ext cx="1028700" cy="3086100"/>
            <a:chOff x="0" y="0"/>
            <a:chExt cx="27093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08257" y="2571750"/>
            <a:ext cx="7354042" cy="4357270"/>
          </a:xfrm>
          <a:custGeom>
            <a:avLst/>
            <a:gdLst/>
            <a:ahLst/>
            <a:cxnLst/>
            <a:rect r="r" b="b" t="t" l="l"/>
            <a:pathLst>
              <a:path h="4357270" w="7354042">
                <a:moveTo>
                  <a:pt x="0" y="0"/>
                </a:moveTo>
                <a:lnTo>
                  <a:pt x="7354042" y="0"/>
                </a:lnTo>
                <a:lnTo>
                  <a:pt x="7354042" y="4357270"/>
                </a:lnTo>
                <a:lnTo>
                  <a:pt x="0" y="4357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50950" y="764095"/>
            <a:ext cx="12379383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8. METAMASK &amp; WALLET SECURITY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9620" y="-15430"/>
            <a:ext cx="2278380" cy="10302430"/>
            <a:chOff x="0" y="0"/>
            <a:chExt cx="600067" cy="2713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067" cy="2713397"/>
            </a:xfrm>
            <a:custGeom>
              <a:avLst/>
              <a:gdLst/>
              <a:ahLst/>
              <a:cxnLst/>
              <a:rect r="r" b="b" t="t" l="l"/>
              <a:pathLst>
                <a:path h="2713397" w="600067">
                  <a:moveTo>
                    <a:pt x="0" y="0"/>
                  </a:moveTo>
                  <a:lnTo>
                    <a:pt x="600067" y="0"/>
                  </a:lnTo>
                  <a:lnTo>
                    <a:pt x="600067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0067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94177" y="654174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12602" y="1913072"/>
            <a:ext cx="4936150" cy="7887557"/>
          </a:xfrm>
          <a:custGeom>
            <a:avLst/>
            <a:gdLst/>
            <a:ahLst/>
            <a:cxnLst/>
            <a:rect r="r" b="b" t="t" l="l"/>
            <a:pathLst>
              <a:path h="7887557" w="4936150">
                <a:moveTo>
                  <a:pt x="0" y="0"/>
                </a:moveTo>
                <a:lnTo>
                  <a:pt x="4936151" y="0"/>
                </a:lnTo>
                <a:lnTo>
                  <a:pt x="4936151" y="7887557"/>
                </a:lnTo>
                <a:lnTo>
                  <a:pt x="0" y="788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39263" y="2230189"/>
            <a:ext cx="4222358" cy="7570440"/>
          </a:xfrm>
          <a:custGeom>
            <a:avLst/>
            <a:gdLst/>
            <a:ahLst/>
            <a:cxnLst/>
            <a:rect r="r" b="b" t="t" l="l"/>
            <a:pathLst>
              <a:path h="7570440" w="4222358">
                <a:moveTo>
                  <a:pt x="0" y="0"/>
                </a:moveTo>
                <a:lnTo>
                  <a:pt x="4222359" y="0"/>
                </a:lnTo>
                <a:lnTo>
                  <a:pt x="4222359" y="7570440"/>
                </a:lnTo>
                <a:lnTo>
                  <a:pt x="0" y="7570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30161"/>
            <a:ext cx="12379383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8. METAMASK &amp; WALLET SECURITY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60644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2476" y="1076325"/>
            <a:ext cx="13611387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9. RÉSULTATS &amp; DÉMONSTRATION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3394" y="2495550"/>
            <a:ext cx="15838905" cy="544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4"/>
              </a:lnSpc>
            </a:pPr>
            <a:r>
              <a:rPr lang="en-US" sz="3910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Fonctionnalités démontrées :</a:t>
            </a:r>
          </a:p>
          <a:p>
            <a:pPr algn="just" marL="844317" indent="-422158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Connexion wallet avec MetaMask</a:t>
            </a:r>
          </a:p>
          <a:p>
            <a:pPr algn="just" marL="844317" indent="-422158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Sélection d’un candidat</a:t>
            </a:r>
          </a:p>
          <a:p>
            <a:pPr algn="just" marL="844317" indent="-422158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Transaction signée pour voter</a:t>
            </a:r>
          </a:p>
          <a:p>
            <a:pPr algn="just" marL="844317" indent="-422158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Mise à jour automatique du frontend</a:t>
            </a:r>
          </a:p>
          <a:p>
            <a:pPr algn="just" marL="844317" indent="-422158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Affichage dynamique des pourcentages</a:t>
            </a:r>
          </a:p>
          <a:p>
            <a:pPr algn="just" marL="844317" indent="-422158" lvl="1">
              <a:lnSpc>
                <a:spcPts val="5474"/>
              </a:lnSpc>
              <a:buFont typeface="Arial"/>
              <a:buChar char="•"/>
            </a:pPr>
            <a:r>
              <a:rPr lang="en-US" sz="3910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Prévention du double vote</a:t>
            </a:r>
          </a:p>
          <a:p>
            <a:pPr algn="just">
              <a:lnSpc>
                <a:spcPts val="5474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50950" y="7515800"/>
            <a:ext cx="1742500" cy="1742500"/>
            <a:chOff x="0" y="0"/>
            <a:chExt cx="458930" cy="45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930" cy="458930"/>
            </a:xfrm>
            <a:custGeom>
              <a:avLst/>
              <a:gdLst/>
              <a:ahLst/>
              <a:cxnLst/>
              <a:rect r="r" b="b" t="t" l="l"/>
              <a:pathLst>
                <a:path h="458930" w="458930">
                  <a:moveTo>
                    <a:pt x="0" y="0"/>
                  </a:moveTo>
                  <a:lnTo>
                    <a:pt x="458930" y="0"/>
                  </a:lnTo>
                  <a:lnTo>
                    <a:pt x="458930" y="458930"/>
                  </a:lnTo>
                  <a:lnTo>
                    <a:pt x="0" y="45893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8930" cy="497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533587" y="9048077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3" y="0"/>
                </a:lnTo>
                <a:lnTo>
                  <a:pt x="1725713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62299" y="6461034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1588" y="8117810"/>
            <a:ext cx="8612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259300" y="1028700"/>
            <a:ext cx="1028700" cy="3086100"/>
            <a:chOff x="0" y="0"/>
            <a:chExt cx="27093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9620" y="-15430"/>
            <a:ext cx="2278380" cy="10302430"/>
            <a:chOff x="0" y="0"/>
            <a:chExt cx="600067" cy="2713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067" cy="2713397"/>
            </a:xfrm>
            <a:custGeom>
              <a:avLst/>
              <a:gdLst/>
              <a:ahLst/>
              <a:cxnLst/>
              <a:rect r="r" b="b" t="t" l="l"/>
              <a:pathLst>
                <a:path h="2713397" w="600067">
                  <a:moveTo>
                    <a:pt x="0" y="0"/>
                  </a:moveTo>
                  <a:lnTo>
                    <a:pt x="600067" y="0"/>
                  </a:lnTo>
                  <a:lnTo>
                    <a:pt x="600067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0067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94177" y="654174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86149" y="1028700"/>
            <a:ext cx="17515703" cy="8229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9620" y="-15430"/>
            <a:ext cx="2278380" cy="10302430"/>
            <a:chOff x="0" y="0"/>
            <a:chExt cx="600067" cy="2713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0067" cy="2713397"/>
            </a:xfrm>
            <a:custGeom>
              <a:avLst/>
              <a:gdLst/>
              <a:ahLst/>
              <a:cxnLst/>
              <a:rect r="r" b="b" t="t" l="l"/>
              <a:pathLst>
                <a:path h="2713397" w="600067">
                  <a:moveTo>
                    <a:pt x="0" y="0"/>
                  </a:moveTo>
                  <a:lnTo>
                    <a:pt x="600067" y="0"/>
                  </a:lnTo>
                  <a:lnTo>
                    <a:pt x="600067" y="2713397"/>
                  </a:lnTo>
                  <a:lnTo>
                    <a:pt x="0" y="2713397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0067" cy="275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94177" y="654174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57929" y="1028700"/>
            <a:ext cx="15972142" cy="8229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-214952"/>
            <a:ext cx="1028700" cy="10501952"/>
            <a:chOff x="0" y="0"/>
            <a:chExt cx="270933" cy="276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765946"/>
            </a:xfrm>
            <a:custGeom>
              <a:avLst/>
              <a:gdLst/>
              <a:ahLst/>
              <a:cxnLst/>
              <a:rect r="r" b="b" t="t" l="l"/>
              <a:pathLst>
                <a:path h="276594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65946"/>
                  </a:lnTo>
                  <a:lnTo>
                    <a:pt x="0" y="2765946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" cy="280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90536"/>
            <a:ext cx="10847969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64"/>
              </a:lnSpc>
            </a:pPr>
            <a:r>
              <a:rPr lang="en-US" sz="7200">
                <a:solidFill>
                  <a:srgbClr val="060644"/>
                </a:solidFill>
                <a:latin typeface="Anton"/>
                <a:ea typeface="Anton"/>
                <a:cs typeface="Anton"/>
                <a:sym typeface="Anton"/>
              </a:rPr>
              <a:t>10. LIMITES &amp; AMÉLIORATIONS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2747" y="2505075"/>
            <a:ext cx="13781231" cy="616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40"/>
              </a:lnSpc>
            </a:pPr>
          </a:p>
          <a:p>
            <a:pPr algn="just">
              <a:lnSpc>
                <a:spcPts val="4440"/>
              </a:lnSpc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Limites :</a:t>
            </a:r>
          </a:p>
          <a:p>
            <a:pPr algn="just" marL="684865" indent="-342433" lvl="1">
              <a:lnSpc>
                <a:spcPts val="4440"/>
              </a:lnSpc>
              <a:buFont typeface="Arial"/>
              <a:buChar char="•"/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Pas encore sur un testnet public</a:t>
            </a:r>
          </a:p>
          <a:p>
            <a:pPr algn="just" marL="684865" indent="-342433" lvl="1">
              <a:lnSpc>
                <a:spcPts val="4440"/>
              </a:lnSpc>
              <a:buFont typeface="Arial"/>
              <a:buChar char="•"/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Pas d’authentification réelle (KYC)</a:t>
            </a:r>
          </a:p>
          <a:p>
            <a:pPr algn="just" marL="684865" indent="-342433" lvl="1">
              <a:lnSpc>
                <a:spcPts val="4440"/>
              </a:lnSpc>
              <a:buFont typeface="Arial"/>
              <a:buChar char="•"/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Pas d’historique des votes par transaction hash</a:t>
            </a:r>
          </a:p>
          <a:p>
            <a:pPr algn="just">
              <a:lnSpc>
                <a:spcPts val="4440"/>
              </a:lnSpc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Améliorations possibles :</a:t>
            </a:r>
          </a:p>
          <a:p>
            <a:pPr algn="just" marL="684865" indent="-342433" lvl="1">
              <a:lnSpc>
                <a:spcPts val="4440"/>
              </a:lnSpc>
              <a:buFont typeface="Arial"/>
              <a:buChar char="•"/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 Déploiement sur Sepolia / Arbitrum testnet</a:t>
            </a:r>
          </a:p>
          <a:p>
            <a:pPr algn="just" marL="684865" indent="-342433" lvl="1">
              <a:lnSpc>
                <a:spcPts val="4440"/>
              </a:lnSpc>
              <a:buFont typeface="Arial"/>
              <a:buChar char="•"/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 Ajouter un backend (Node.js + MongoDB) pour tracking UI</a:t>
            </a:r>
          </a:p>
          <a:p>
            <a:pPr algn="just" marL="684865" indent="-342433" lvl="1">
              <a:lnSpc>
                <a:spcPts val="4440"/>
              </a:lnSpc>
              <a:buFont typeface="Arial"/>
              <a:buChar char="•"/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 Ajouter une phase de clôture du vote (admin only)</a:t>
            </a:r>
          </a:p>
          <a:p>
            <a:pPr algn="just" marL="684865" indent="-342433" lvl="1">
              <a:lnSpc>
                <a:spcPts val="4440"/>
              </a:lnSpc>
              <a:buFont typeface="Arial"/>
              <a:buChar char="•"/>
            </a:pPr>
            <a:r>
              <a:rPr lang="en-US" sz="3172">
                <a:solidFill>
                  <a:srgbClr val="060644"/>
                </a:solidFill>
                <a:latin typeface="Inter"/>
                <a:ea typeface="Inter"/>
                <a:cs typeface="Inter"/>
                <a:sym typeface="Inter"/>
              </a:rPr>
              <a:t> ZKP (Zero Knowledge Proofs) pour rendre les votes anonymes</a:t>
            </a:r>
          </a:p>
          <a:p>
            <a:pPr algn="just">
              <a:lnSpc>
                <a:spcPts val="444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562299" y="-248603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42138" y="8117810"/>
            <a:ext cx="8612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1028700"/>
            <a:ext cx="1028700" cy="3086100"/>
            <a:chOff x="0" y="0"/>
            <a:chExt cx="270933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-348507" y="3146832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4" y="0"/>
                </a:lnTo>
                <a:lnTo>
                  <a:pt x="1725714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594782" y="-322410"/>
            <a:ext cx="4921724" cy="9349658"/>
            <a:chOff x="0" y="0"/>
            <a:chExt cx="481444" cy="9145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444" cy="914585"/>
            </a:xfrm>
            <a:custGeom>
              <a:avLst/>
              <a:gdLst/>
              <a:ahLst/>
              <a:cxnLst/>
              <a:rect r="r" b="b" t="t" l="l"/>
              <a:pathLst>
                <a:path h="914585" w="481444">
                  <a:moveTo>
                    <a:pt x="0" y="0"/>
                  </a:moveTo>
                  <a:lnTo>
                    <a:pt x="481444" y="0"/>
                  </a:lnTo>
                  <a:lnTo>
                    <a:pt x="481444" y="914585"/>
                  </a:lnTo>
                  <a:lnTo>
                    <a:pt x="0" y="914585"/>
                  </a:lnTo>
                  <a:close/>
                </a:path>
              </a:pathLst>
            </a:custGeom>
            <a:solidFill>
              <a:srgbClr val="72C3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444" cy="952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22177" y="2314467"/>
            <a:ext cx="6158653" cy="394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4"/>
              </a:lnSpc>
              <a:spcBef>
                <a:spcPct val="0"/>
              </a:spcBef>
            </a:pPr>
            <a:r>
              <a:rPr lang="en-US" b="true" sz="7538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MERCI POUR VOTRE ATTENTION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562299" y="514350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0"/>
                </a:moveTo>
                <a:lnTo>
                  <a:pt x="1451402" y="0"/>
                </a:lnTo>
                <a:lnTo>
                  <a:pt x="1451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725645" y="1028700"/>
            <a:ext cx="1451402" cy="4114800"/>
          </a:xfrm>
          <a:custGeom>
            <a:avLst/>
            <a:gdLst/>
            <a:ahLst/>
            <a:cxnLst/>
            <a:rect r="r" b="b" t="t" l="l"/>
            <a:pathLst>
              <a:path h="4114800" w="1451402">
                <a:moveTo>
                  <a:pt x="0" y="4114800"/>
                </a:moveTo>
                <a:lnTo>
                  <a:pt x="1451402" y="4114800"/>
                </a:lnTo>
                <a:lnTo>
                  <a:pt x="145140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6291332" y="1786445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3" y="0"/>
                </a:lnTo>
                <a:lnTo>
                  <a:pt x="1725713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270955" y="8290332"/>
            <a:ext cx="1725713" cy="210223"/>
          </a:xfrm>
          <a:custGeom>
            <a:avLst/>
            <a:gdLst/>
            <a:ahLst/>
            <a:cxnLst/>
            <a:rect r="r" b="b" t="t" l="l"/>
            <a:pathLst>
              <a:path h="210223" w="1725713">
                <a:moveTo>
                  <a:pt x="0" y="0"/>
                </a:moveTo>
                <a:lnTo>
                  <a:pt x="1725713" y="0"/>
                </a:lnTo>
                <a:lnTo>
                  <a:pt x="1725713" y="210223"/>
                </a:lnTo>
                <a:lnTo>
                  <a:pt x="0" y="210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DAG62G5krvg</dc:identifier>
  <dcterms:modified xsi:type="dcterms:W3CDTF">2011-08-01T06:04:30Z</dcterms:modified>
  <cp:revision>1</cp:revision>
  <dc:title>Voting DApp</dc:title>
</cp:coreProperties>
</file>